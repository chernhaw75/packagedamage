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72"/>
  </p:normalViewPr>
  <p:slideViewPr>
    <p:cSldViewPr snapToGrid="0">
      <p:cViewPr varScale="1">
        <p:scale>
          <a:sx n="112" d="100"/>
          <a:sy n="112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14BE-5570-8766-33E3-21CD7A815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9B7E3-4CCE-6160-363D-60CF9AD8F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1B115-8730-BD78-CD83-2A269DEF1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A6BC3-BBCC-1B31-AD28-883ED58C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1D649-D0AF-6ADA-2CFC-A9AF5085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49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2895C-D27F-0FA8-5785-FEFA0D72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51A8-DCB4-FF6A-6C23-57FAD5709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620E-10A1-4240-53A1-F631E0D20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EE7DD-480A-1A7F-CE1A-E739728A0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2E829-DC47-A5C0-EF0B-15D1519D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3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5B7F-BB36-5C19-969F-B78C5DC6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77C8A-5B50-7EFC-9B53-A30752919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B487-E2E4-754F-7D1B-E56845A6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BA31F-C9D0-C0DD-1755-68E51C557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54E9F-3B14-17EE-9D1E-35FA4901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7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9F914-B73A-97DA-4E9F-AAC8F56F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FBC26-944D-7891-3D1D-185D08C7A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88862-3E94-646E-8A0D-26CB4A4F3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FE42E-260F-EE09-805A-44273150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F0BFC-53A8-65DD-2787-935DF6C4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0C40A-0105-0B03-E6BE-7C3552914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5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EF65-1AA6-1CAC-2802-FBC41D98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7A5B3-0519-7015-8967-CCADD330C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8C727-77AD-D2C9-C90B-E17D79893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468D62-9CD6-3AB1-1574-B8A19151B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2C0055-442A-DA9E-83D5-1CE58F80B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EC811E-0257-BF36-051F-5F3638D04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587C2-DEC3-F7AC-C266-B6D90BD6A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FB231-DDDE-BEE3-8484-1D41EFFB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38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CE95-5378-67C5-9943-967D9291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D93CC3-61B0-7739-76FC-D731C60A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D4118-C013-BD7D-2B2E-18665A12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E56458-DF37-DFF5-40E1-933A9868A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11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D6C90-D39C-DF58-494B-5E039273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FA0C0-F5E8-D77D-E2F0-1A80B9B2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29A25-8AB5-76AB-706D-559D6611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64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E66ED-39E2-353E-FA28-1ABCBDB8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1CAB-9BD8-82C9-2021-E71AC6603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E0DA2-A101-9139-CDDE-032A8E004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A7146-0977-577B-3138-5B0277390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99AFD-7EA0-DDA9-1A49-7009341C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C0A6F-ABB5-8241-75DA-9207AB76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7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E7A63-B3C2-2370-F847-5F535BDA9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BF311-464D-D3AD-55E7-AD1F9A6DD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1A975-EA9C-0175-2B6A-66404C39B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DD104-74FF-CF13-6511-704F9321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BA825-8A6C-1837-4CEA-FB082675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84244-39DA-F016-BE2A-55ADA6CC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0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C52CB-7499-62D1-4482-2B0FD299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BFEE8-C00F-27DD-599C-87F05B0FB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F5A6B-9569-4027-FD84-EBCD70177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BB3ED-CAD3-4484-0BC3-CAA532B51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C041A-8B4A-D7C5-086B-666D3C8F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8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CF370-A9C6-536E-BCDE-C2755EA9A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1DEBF-F868-58FF-DC2C-F0607B0A3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F2CD-BDC8-237A-C559-9BC6D75A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F3C8F-3858-72E0-5DF6-18BA9D17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48EE-2A90-8DE2-AFDD-4FCCBB23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3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ED84E-7E1B-B14A-8B2B-83EB0C01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FA3CDC-160A-22B3-A836-145808613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AEF4-36B1-593C-CCA7-281FDF476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900EF-7BEE-E946-88A7-9ED6C7BE851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9871-6849-F792-9878-00114B8B4C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F89A9-DFF6-4636-C777-165429D8C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5441C-6F98-9142-B8EE-7D799BA64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18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Accent"/>
          <p:cNvSpPr>
            <a:spLocks noGrp="1"/>
          </p:cNvSpPr>
          <p:nvPr/>
        </p:nvSpPr>
        <p:spPr>
          <a:xfrm>
            <a:off x="7315200" y="0"/>
            <a:ext cx="10668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ightInner"/>
          <p:cNvSpPr>
            <a:spLocks noGrp="1"/>
          </p:cNvSpPr>
          <p:nvPr/>
        </p:nvSpPr>
        <p:spPr>
          <a:xfrm>
            <a:off x="7467600" y="0"/>
            <a:ext cx="914400" cy="68580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opBar"/>
          <p:cNvSpPr>
            <a:spLocks noGrp="1"/>
          </p:cNvSpPr>
          <p:nvPr/>
        </p:nvSpPr>
        <p:spPr>
          <a:xfrm>
            <a:off x="457200" y="457200"/>
            <a:ext cx="2743200" cy="76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OverlineLabel"/>
          <p:cNvSpPr>
            <a:spLocks noGrp="1"/>
          </p:cNvSpPr>
          <p:nvPr/>
        </p:nvSpPr>
        <p:spPr>
          <a:xfrm>
            <a:off x="457200" y="609600"/>
            <a:ext cx="6629400" cy="38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400" b="0" spc="300" dirty="0">
                <a:solidFill>
                  <a:srgbClr val="00B4D8"/>
                </a:solidFill>
                <a:latin typeface="Calibri" panose="020F0502020204030204" pitchFamily="34" charset="0"/>
              </a:rPr>
              <a:t>PACKAGECAM  •  AI VISION SYSTEM</a:t>
            </a:r>
          </a:p>
        </p:txBody>
      </p:sp>
      <p:sp>
        <p:nvSpPr>
          <p:cNvPr id="2" name="MainTitle"/>
          <p:cNvSpPr>
            <a:spLocks noGrp="1"/>
          </p:cNvSpPr>
          <p:nvPr/>
        </p:nvSpPr>
        <p:spPr>
          <a:xfrm>
            <a:off x="457200" y="1066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/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</a:rPr>
              <a:t>AI-Powered Parcel</a:t>
            </a:r>
          </a:p>
          <a:p>
            <a:pPr marL="0" indent="0" algn="l"/>
            <a:r>
              <a:rPr lang="en-US" sz="5400" b="1" dirty="0">
                <a:solidFill>
                  <a:srgbClr val="00B4D8"/>
                </a:solidFill>
                <a:latin typeface="Calibri" panose="020F0502020204030204" pitchFamily="34" charset="0"/>
              </a:rPr>
              <a:t>Damage Detection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57200" y="3047100"/>
            <a:ext cx="66294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 b="0" dirty="0">
                <a:solidFill>
                  <a:srgbClr val="90E0EF"/>
                </a:solidFill>
                <a:latin typeface="Calibri" panose="020F0502020204030204" pitchFamily="34" charset="0"/>
              </a:rPr>
              <a:t>Real-Time Quality Control for High-Speed Conveyor Systems</a:t>
            </a:r>
          </a:p>
        </p:txBody>
      </p:sp>
      <p:sp>
        <p:nvSpPr>
          <p:cNvPr id="14" name="Divider"/>
          <p:cNvSpPr>
            <a:spLocks noGrp="1"/>
          </p:cNvSpPr>
          <p:nvPr/>
        </p:nvSpPr>
        <p:spPr>
          <a:xfrm>
            <a:off x="457200" y="3581400"/>
            <a:ext cx="2743200" cy="508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ag1Bg"/>
          <p:cNvSpPr>
            <a:spLocks noGrp="1"/>
          </p:cNvSpPr>
          <p:nvPr/>
        </p:nvSpPr>
        <p:spPr>
          <a:xfrm>
            <a:off x="457200" y="381000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3E8A"/>
          </a:solidFill>
          <a:ln>
            <a:solidFill>
              <a:srgbClr val="00B4D8"/>
            </a:solidFill>
            <a:round/>
          </a:ln>
        </p:spPr>
        <p:txBody>
          <a:bodyPr lIns="91440" tIns="0" rIns="91440" bIns="0" anchor="ctr"/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YOLOv8 Detection</a:t>
            </a:r>
          </a:p>
        </p:txBody>
      </p:sp>
      <p:sp>
        <p:nvSpPr>
          <p:cNvPr id="21" name="Tag2Bg"/>
          <p:cNvSpPr>
            <a:spLocks noGrp="1"/>
          </p:cNvSpPr>
          <p:nvPr/>
        </p:nvSpPr>
        <p:spPr>
          <a:xfrm>
            <a:off x="2133600" y="381000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3E8A"/>
          </a:solidFill>
          <a:ln>
            <a:solidFill>
              <a:srgbClr val="00B4D8"/>
            </a:solidFill>
            <a:round/>
          </a:ln>
        </p:spPr>
        <p:txBody>
          <a:bodyPr lIns="91440" tIns="0" rIns="91440" bIns="0" anchor="ctr"/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NVIDIA A100 Training</a:t>
            </a:r>
          </a:p>
        </p:txBody>
      </p:sp>
      <p:sp>
        <p:nvSpPr>
          <p:cNvPr id="22" name="Tag3Bg"/>
          <p:cNvSpPr>
            <a:spLocks noGrp="1"/>
          </p:cNvSpPr>
          <p:nvPr/>
        </p:nvSpPr>
        <p:spPr>
          <a:xfrm>
            <a:off x="3810000" y="3810000"/>
            <a:ext cx="1600200" cy="457200"/>
          </a:xfrm>
          <a:prstGeom prst="roundRect">
            <a:avLst>
              <a:gd name="adj" fmla="val 20000"/>
            </a:avLst>
          </a:prstGeom>
          <a:solidFill>
            <a:srgbClr val="023E8A"/>
          </a:solidFill>
          <a:ln>
            <a:solidFill>
              <a:srgbClr val="00B4D8"/>
            </a:solidFill>
            <a:round/>
          </a:ln>
        </p:spPr>
        <p:txBody>
          <a:bodyPr lIns="91440" tIns="0" rIns="91440" bIns="0" anchor="ctr"/>
          <a:lstStyle/>
          <a:p>
            <a:pPr algn="ctr"/>
            <a:r>
              <a:rPr lang="en-US" sz="1100" b="1" dirty="0">
                <a:solidFill>
                  <a:srgbClr val="00B4D8"/>
                </a:solidFill>
                <a:latin typeface="Calibri"/>
              </a:rPr>
              <a:t>Jetson Orin Deploy</a:t>
            </a:r>
          </a:p>
        </p:txBody>
      </p:sp>
      <p:sp>
        <p:nvSpPr>
          <p:cNvPr id="30" name="StatsBg"/>
          <p:cNvSpPr>
            <a:spLocks noGrp="1"/>
          </p:cNvSpPr>
          <p:nvPr/>
        </p:nvSpPr>
        <p:spPr>
          <a:xfrm>
            <a:off x="0" y="5486400"/>
            <a:ext cx="8382000" cy="1371600"/>
          </a:xfrm>
          <a:prstGeom prst="rect">
            <a:avLst/>
          </a:prstGeom>
          <a:solidFill>
            <a:srgbClr val="023E8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Stat1"/>
          <p:cNvSpPr>
            <a:spLocks noGrp="1"/>
          </p:cNvSpPr>
          <p:nvPr/>
        </p:nvSpPr>
        <p:spPr>
          <a:xfrm>
            <a:off x="457200" y="5562600"/>
            <a:ext cx="2133600" cy="121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00B4D8"/>
                </a:solidFill>
                <a:latin typeface="Calibri"/>
              </a:rPr>
              <a:t>10,000+</a:t>
            </a:r>
          </a:p>
          <a:p>
            <a:pPr algn="ctr"/>
            <a:r>
              <a:rPr lang="en-US" sz="1100" b="0" dirty="0">
                <a:solidFill>
                  <a:srgbClr val="CAF0F8"/>
                </a:solidFill>
                <a:latin typeface="Calibri"/>
              </a:rPr>
              <a:t>Training Images</a:t>
            </a:r>
          </a:p>
        </p:txBody>
      </p:sp>
      <p:sp>
        <p:nvSpPr>
          <p:cNvPr id="35" name="VDiv1"/>
          <p:cNvSpPr>
            <a:spLocks noGrp="1"/>
          </p:cNvSpPr>
          <p:nvPr/>
        </p:nvSpPr>
        <p:spPr>
          <a:xfrm>
            <a:off x="2743200" y="5638800"/>
            <a:ext cx="50800" cy="1066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Stat2"/>
          <p:cNvSpPr>
            <a:spLocks noGrp="1"/>
          </p:cNvSpPr>
          <p:nvPr/>
        </p:nvSpPr>
        <p:spPr>
          <a:xfrm>
            <a:off x="2895600" y="5562600"/>
            <a:ext cx="2133600" cy="121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3600" b="1" dirty="0">
                <a:solidFill>
                  <a:srgbClr val="00B4D8"/>
                </a:solidFill>
                <a:latin typeface="Calibri"/>
              </a:rPr>
              <a:t>Real-Time</a:t>
            </a:r>
          </a:p>
          <a:p>
            <a:pPr algn="ctr"/>
            <a:r>
              <a:rPr lang="en-US" sz="1100" b="0" dirty="0">
                <a:solidFill>
                  <a:srgbClr val="CAF0F8"/>
                </a:solidFill>
                <a:latin typeface="Calibri"/>
              </a:rPr>
              <a:t>Inference on Edge</a:t>
            </a:r>
          </a:p>
        </p:txBody>
      </p:sp>
      <p:sp>
        <p:nvSpPr>
          <p:cNvPr id="36" name="VDiv2"/>
          <p:cNvSpPr>
            <a:spLocks noGrp="1"/>
          </p:cNvSpPr>
          <p:nvPr/>
        </p:nvSpPr>
        <p:spPr>
          <a:xfrm>
            <a:off x="5181000" y="5638800"/>
            <a:ext cx="50800" cy="1066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Stat3"/>
          <p:cNvSpPr>
            <a:spLocks noGrp="1"/>
          </p:cNvSpPr>
          <p:nvPr/>
        </p:nvSpPr>
        <p:spPr>
          <a:xfrm>
            <a:off x="5182800" y="5562600"/>
            <a:ext cx="2743200" cy="1219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  <a:latin typeface="Calibri"/>
              </a:rPr>
              <a:t>ONNX + TensorRT</a:t>
            </a:r>
          </a:p>
          <a:p>
            <a:pPr algn="ctr"/>
            <a:r>
              <a:rPr lang="en-US" sz="1100" b="0" dirty="0">
                <a:solidFill>
                  <a:srgbClr val="CAF0F8"/>
                </a:solidFill>
                <a:latin typeface="Calibri"/>
              </a:rPr>
              <a:t>Optimised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B27F-B9F5-01B2-9F2A-DB956708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Technical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DF035-E58C-D63A-ED37-C3A5FBA3C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End-to-End Development Workflow</a:t>
            </a:r>
            <a:endParaRPr lang="en-US" dirty="0"/>
          </a:p>
          <a:p>
            <a:r>
              <a:rPr lang="en-US" b="1" dirty="0"/>
              <a:t>Stack:</a:t>
            </a:r>
            <a:r>
              <a:rPr lang="en-US" dirty="0"/>
              <a:t> CUDA 12.8, </a:t>
            </a:r>
            <a:r>
              <a:rPr lang="en-US" dirty="0" err="1"/>
              <a:t>PyTorch</a:t>
            </a:r>
            <a:r>
              <a:rPr lang="en-US" dirty="0"/>
              <a:t> 2.10.0, and </a:t>
            </a:r>
            <a:r>
              <a:rPr lang="en-US" dirty="0" err="1"/>
              <a:t>Ultralytics</a:t>
            </a:r>
            <a:r>
              <a:rPr lang="en-US" dirty="0"/>
              <a:t> YOLOv8.</a:t>
            </a:r>
          </a:p>
          <a:p>
            <a:r>
              <a:rPr lang="en-US" b="1" dirty="0"/>
              <a:t>Data Sourcing:</a:t>
            </a:r>
            <a:r>
              <a:rPr lang="en-US" dirty="0"/>
              <a:t> Automated aggregation of 10,000+ images from Kaggle, Hugging Face, and </a:t>
            </a:r>
            <a:r>
              <a:rPr lang="en-US" dirty="0" err="1"/>
              <a:t>Roboflow</a:t>
            </a:r>
            <a:r>
              <a:rPr lang="en-US" dirty="0"/>
              <a:t>.</a:t>
            </a:r>
          </a:p>
          <a:p>
            <a:r>
              <a:rPr lang="en-US" b="1" dirty="0"/>
              <a:t>Processing:</a:t>
            </a:r>
            <a:r>
              <a:rPr lang="en-US" dirty="0"/>
              <a:t> Uses </a:t>
            </a:r>
            <a:r>
              <a:rPr lang="en-US" b="1" dirty="0" err="1"/>
              <a:t>Albumentations</a:t>
            </a:r>
            <a:r>
              <a:rPr lang="en-US" dirty="0"/>
              <a:t> for robust training and a custom </a:t>
            </a:r>
            <a:r>
              <a:rPr lang="en-US" dirty="0" err="1"/>
              <a:t>heuristic_class</a:t>
            </a:r>
            <a:r>
              <a:rPr lang="en-US" dirty="0"/>
              <a:t> method to auto-label images based on directory keywords.</a:t>
            </a:r>
          </a:p>
          <a:p>
            <a:r>
              <a:rPr lang="en-US" b="1" dirty="0"/>
              <a:t>Training:</a:t>
            </a:r>
            <a:r>
              <a:rPr lang="en-US" dirty="0"/>
              <a:t> YOLOv8n (Nano) architecture trained on </a:t>
            </a:r>
            <a:r>
              <a:rPr lang="en-US" b="1" dirty="0"/>
              <a:t>NVIDIA A100-SXM4</a:t>
            </a:r>
            <a:r>
              <a:rPr lang="en-US" dirty="0"/>
              <a:t> for rapid convergence.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9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A400-DB41-7AF2-251A-A5DB8128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Deployment &amp; Export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0406-EA19-1C10-A107-23F4F8991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Weight Conversion:</a:t>
            </a:r>
            <a:r>
              <a:rPr lang="en-US" dirty="0"/>
              <a:t> </a:t>
            </a:r>
            <a:r>
              <a:rPr lang="en-US" dirty="0" err="1"/>
              <a:t>PyTorch</a:t>
            </a:r>
            <a:r>
              <a:rPr lang="en-US" dirty="0"/>
              <a:t> (.pt) → </a:t>
            </a:r>
            <a:r>
              <a:rPr lang="en-US" b="1" dirty="0"/>
              <a:t>ONNX</a:t>
            </a:r>
            <a:r>
              <a:rPr lang="en-US" dirty="0"/>
              <a:t> format.</a:t>
            </a:r>
          </a:p>
          <a:p>
            <a:r>
              <a:rPr lang="en-US" b="1" dirty="0"/>
              <a:t>Optimization:</a:t>
            </a:r>
            <a:r>
              <a:rPr lang="en-US" dirty="0"/>
              <a:t> Specifically tuned for </a:t>
            </a:r>
            <a:r>
              <a:rPr lang="en-US" b="1" dirty="0"/>
              <a:t>Jetson </a:t>
            </a:r>
            <a:r>
              <a:rPr lang="en-US" b="1" dirty="0" err="1"/>
              <a:t>TensorRT</a:t>
            </a:r>
            <a:r>
              <a:rPr lang="en-US" dirty="0"/>
              <a:t> compatibility to ensure low-latency performance.</a:t>
            </a:r>
          </a:p>
          <a:p>
            <a:r>
              <a:rPr lang="en-US" b="1" dirty="0"/>
              <a:t>Versatility:</a:t>
            </a:r>
            <a:r>
              <a:rPr lang="en-US" dirty="0"/>
              <a:t> Includes testing scripts for both development (MacBook M2 webcam) and production (Jetson Orin).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5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37DA-B6D4-81B0-1963-9EF9E66D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Current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38FC-C6A0-FE34-C29B-C7A3322A5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Identified Technical Risks</a:t>
            </a:r>
            <a:endParaRPr lang="en-US" dirty="0"/>
          </a:p>
          <a:p>
            <a:r>
              <a:rPr lang="en-US" b="1" dirty="0"/>
              <a:t>Label Noise:</a:t>
            </a:r>
            <a:r>
              <a:rPr lang="en-US" dirty="0"/>
              <a:t> Heuristic labeling relies on folder names; inconsistent source naming can degrade model accuracy.</a:t>
            </a:r>
          </a:p>
          <a:p>
            <a:r>
              <a:rPr lang="en-US" b="1" dirty="0"/>
              <a:t>Data Sampling:</a:t>
            </a:r>
            <a:r>
              <a:rPr lang="en-US" dirty="0"/>
              <a:t> Randomly capping at 10,000 images may exclude critical "edge case" damage examples found in the larger 13k+ raw dataset.</a:t>
            </a:r>
          </a:p>
          <a:p>
            <a:r>
              <a:rPr lang="en-US" b="1" dirty="0"/>
              <a:t>Pipeline Fragility:</a:t>
            </a:r>
            <a:r>
              <a:rPr lang="en-US" dirty="0"/>
              <a:t> Heavy reliance on four external APIs (Kaggle, HF, </a:t>
            </a:r>
            <a:r>
              <a:rPr lang="en-US" dirty="0" err="1"/>
              <a:t>Roboflow</a:t>
            </a:r>
            <a:r>
              <a:rPr lang="en-US" dirty="0"/>
              <a:t>, W&amp;B) creates multiple points of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6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232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The Technical Pipeline</vt:lpstr>
      <vt:lpstr>Deployment &amp; Export </vt:lpstr>
      <vt:lpstr>Current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Chern Haw Tong (Student)</dc:creator>
  <cp:lastModifiedBy>Chern Haw Tong (Student)</cp:lastModifiedBy>
  <cp:revision>1</cp:revision>
  <dcterms:created xsi:type="dcterms:W3CDTF">2026-03-10T06:35:11Z</dcterms:created>
  <dcterms:modified xsi:type="dcterms:W3CDTF">2026-03-11T13:41:08Z</dcterms:modified>
</cp:coreProperties>
</file>